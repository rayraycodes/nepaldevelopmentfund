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5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नेपाल  ·  </a:t>
            </a:r>
            <a:pPr indent="0" marL="0">
              <a:buNone/>
            </a:pPr>
            <a:r>
              <a:rPr lang="en-US" sz="15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External Development Funding to Nepal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58368" y="361188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verifiable, sovereign record of who funds Nepal, what they deliver, and what for.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pPr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this matters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pPr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 built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pPr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stays trustworthy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briefing for the Government of Nepal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किन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data goes dark, accountability does too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make foreign aid hard for Nepal to see clearly: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566928" cy="566928"/>
          </a:xfrm>
          <a:prstGeom prst="ellipse">
            <a:avLst/>
          </a:prstGeom>
          <a:solidFill>
            <a:srgbClr val="C0152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68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2432304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is borrowed, not owned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2834640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data lives on donor websites. When USAID was dissolved in 2025, its site went offline and Nepal lost the record of assistance it had received. Dependence on a foreign portal is a sovereignty risk.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1605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17320" y="4123944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sides of the ledger disagree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417320" y="4526280"/>
            <a:ext cx="4526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donors report giving and what Nepal reports receiving differ by 7 to 33 percent every year. Without a reconciliation, planning rests on numbers nobody has squared.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92240" y="2468880"/>
            <a:ext cx="5029200" cy="3383280"/>
          </a:xfrm>
          <a:prstGeom prst="roundRect">
            <a:avLst>
              <a:gd name="adj" fmla="val 2162"/>
            </a:avLst>
          </a:prstGeom>
          <a:solidFill>
            <a:srgbClr val="0D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gap, by year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12280" y="320040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0" y="3200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F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 vs donor books +27%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12280" y="376732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0" y="376732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F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 vs donor books +48%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433425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0" y="433425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 vs donor books -11%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12280" y="490118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0" y="490118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F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 vs donor books +14%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12280" y="5212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Nepal's own report is the more complete record: it captures China and India, which the international system omits.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Development Funding to Nepal  ·  built from primary sources, retrieved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किन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ground just shifted under Nepal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US restructuring is not a forecast. It is already measurable in the data.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761488"/>
            <a:ext cx="64008" cy="1106424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633472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15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-74%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96112" y="3419856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in new US commitments in FY2025, the sharpest cut on record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2761488"/>
            <a:ext cx="64008" cy="1106424"/>
          </a:xfrm>
          <a:prstGeom prst="rect">
            <a:avLst/>
          </a:prstGeom>
          <a:solidFill>
            <a:srgbClr val="E08A0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633472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8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248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599432" y="3419856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2,609 US awards ended inside the restructuring window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24688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2761488"/>
            <a:ext cx="64008" cy="1106424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633472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15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→ 7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302752" y="3419856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 budget accounts for Nepal, FY2024 to FY2026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526280"/>
            <a:ext cx="10927080" cy="1417320"/>
          </a:xfrm>
          <a:prstGeom prst="roundRect">
            <a:avLst>
              <a:gd name="adj" fmla="val 5161"/>
            </a:avLst>
          </a:prstGeom>
          <a:solidFill>
            <a:srgbClr val="FBEAEC"/>
          </a:solidFill>
          <a:ln w="12700">
            <a:solidFill>
              <a:srgbClr val="E7B6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70916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pivot: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USAID disappears, the $500m Millennium Challenge Corporation compact (power lines and roads, running to August 2028) becomes the dominant US channel. Nepal's leverage and obligations there now matter disproportionately.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6437376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Development Funding to Nepal  ·  built from primary sources, retrieved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single, source-faithful record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1975104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ledgers, compared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37744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Donor-side (OECD, World Bank, ADB, US, UN) set beside recipient-side (Nepal's own Development Cooperation Report). Compared, never merged, with every gap explained.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66928" cy="566928"/>
          </a:xfrm>
          <a:prstGeom prst="ellipse">
            <a:avLst/>
          </a:prstGeom>
          <a:solidFill>
            <a:srgbClr val="0D244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57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3621024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 deep dive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402336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to the budget account, the sub-sector, the implementing partner, and all 2,609 individual projects, triaged by status.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566928" cy="5669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74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5038344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documents, archived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544068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MCC compact, the recovered USAID strategy, ADB and World Bank frameworks, each saved with a checksum.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2011680"/>
            <a:ext cx="512064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Nepal to use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93408" y="2734056"/>
            <a:ext cx="146304" cy="14630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6967728" y="2642616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 —  </a:t>
            </a:r>
            <a:pPr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English / नेपाली, side by side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693408" y="3392424"/>
            <a:ext cx="146304" cy="14630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6967728" y="3300984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 —  </a:t>
            </a:r>
            <a:pPr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any project; switch any year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693408" y="4050792"/>
            <a:ext cx="146304" cy="14630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Text 22"/>
          <p:cNvSpPr/>
          <p:nvPr/>
        </p:nvSpPr>
        <p:spPr>
          <a:xfrm>
            <a:off x="6967728" y="3959352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 —  </a:t>
            </a:r>
            <a:pPr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links to its official source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693408" y="4709160"/>
            <a:ext cx="146304" cy="14630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6967728" y="461772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  —  </a:t>
            </a:r>
            <a:pPr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survive when source sites die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693408" y="5367528"/>
            <a:ext cx="146304" cy="14630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8" name="Text 26"/>
          <p:cNvSpPr/>
          <p:nvPr/>
        </p:nvSpPr>
        <p:spPr>
          <a:xfrm>
            <a:off x="6967728" y="527608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 —  </a:t>
            </a:r>
            <a:pPr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CSVs anyone can re-check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" y="6437376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Development Funding to Nepal  ·  built from primary sources, retrieved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Following each dollar to its purpose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assistance to Nepal, 2015–2026 ($2.0 billion delivered):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34290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423160"/>
            <a:ext cx="3429000" cy="1097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82¢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914400" y="4069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kept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43484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 promised dollar was actually delivered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3400" y="2423160"/>
            <a:ext cx="34290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2423160"/>
            <a:ext cx="3429000" cy="109728"/>
          </a:xfrm>
          <a:prstGeom prst="rect">
            <a:avLst/>
          </a:prstGeom>
          <a:solidFill>
            <a:srgbClr val="0D2440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D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9718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D2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~50¢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4617720" y="4069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people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17720" y="443484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people directly: nutrition, clinics, schools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2423160"/>
            <a:ext cx="34290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2423160"/>
            <a:ext cx="3429000" cy="109728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75320" y="29718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C015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18¢</a:t>
            </a:r>
            <a:endParaRPr lang="en-US" sz="5200" dirty="0"/>
          </a:p>
        </p:txBody>
      </p:sp>
      <p:sp>
        <p:nvSpPr>
          <p:cNvPr id="22" name="Text 20"/>
          <p:cNvSpPr/>
          <p:nvPr/>
        </p:nvSpPr>
        <p:spPr>
          <a:xfrm>
            <a:off x="8321040" y="4069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machine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21040" y="443484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the system itself: administration and oversight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4406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18¢ is only the visible overhead; what partners spend on their own administration inside program awards is not published anywhere. We say so, on the page.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Development Funding to Nepal  ·  built from primary sources, retrieved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Following the money to where it landed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partners win the awards, but much is sub-granted onward — now traceable down to the district.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761488"/>
            <a:ext cx="64008" cy="11064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633472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$1.06bn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96112" y="3419856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sub-granted onward from the largest projects — about half of what was obligated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2761488"/>
            <a:ext cx="64008" cy="1106424"/>
          </a:xfrm>
          <a:prstGeom prst="rect">
            <a:avLst/>
          </a:prstGeom>
          <a:solidFill>
            <a:srgbClr val="0D244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633472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599432" y="3419856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received the money beneath the US primes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246888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2761488"/>
            <a:ext cx="64008" cy="1106424"/>
          </a:xfrm>
          <a:prstGeom prst="rect">
            <a:avLst/>
          </a:prstGeom>
          <a:solidFill>
            <a:srgbClr val="E08A00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633472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8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 / 77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302752" y="3419856"/>
            <a:ext cx="31089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Nepal's districts named as where the work happened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526280"/>
            <a:ext cx="10927080" cy="1417320"/>
          </a:xfrm>
          <a:prstGeom prst="roundRect">
            <a:avLst>
              <a:gd name="adj" fmla="val 5161"/>
            </a:avLst>
          </a:prstGeom>
          <a:solidFill>
            <a:srgbClr val="E9F4F3"/>
          </a:solidFill>
          <a:ln w="12700">
            <a:solidFill>
              <a:srgbClr val="BFD8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70916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live dashboard: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district — Achham, Surkhet, Kailali — to see the named local NGOs that received US money there, and which international partner passed it down (organisations like Social Empowerment &amp; Building Accessibility Centre Nepal and Bahuuddeshiya Bikash Samaj).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437376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Development Funding to Nepal  ·  built from primary sources, retrieved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international statistics miss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31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2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$99.8m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Nepal's largest bilateral donor in FY2022/23 — and almost invisible in OECD data, because India does not report to it. Only Nepal's own books capture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210312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3317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2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China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8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promises, </a:t>
            </a:r>
            <a:pPr indent="0" marL="0">
              <a:buNone/>
            </a:pPr>
            <a:r>
              <a:rPr lang="en-US" sz="2600" b="1" dirty="0">
                <a:solidFill>
                  <a:srgbClr val="C015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 delivery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537960" y="37490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commitments to Nepal run to hundreds of millions; the disbursements Nepal actually records fell to about $14m by FY2022/23. The headline numbers are pledges, not cash. A measurement fact, stated neutrally.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37376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Development Funding to Nepal  ·  built from primary sources, retrieved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जवाफदेहिता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auditors found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Inspector General audits its assistance to Nepal. We traced every Nepal audit we could find.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761488"/>
            <a:ext cx="64008" cy="11064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633472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$323,161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96112" y="3419856"/>
            <a:ext cx="49834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questioned costs across 7 audits — just 0.016% of the $2.0bn delivered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24688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DE4EC"/>
            </a:solidFill>
            <a:prstDash val="solid"/>
          </a:ln>
          <a:effectLst>
            <a:outerShdw sx="100000" sy="100000" kx="0" ky="0" algn="bl" rotWithShape="0" blurRad="114300" dist="25400" dir="5400000">
              <a:srgbClr val="8895A7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72200" y="2761488"/>
            <a:ext cx="64008" cy="1106424"/>
          </a:xfrm>
          <a:prstGeom prst="rect">
            <a:avLst/>
          </a:prstGeom>
          <a:solidFill>
            <a:srgbClr val="0D2440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633472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24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of 7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28232" y="3419856"/>
            <a:ext cx="498348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PDFs archived here with checksums; the rest are now offline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927080" cy="1417320"/>
          </a:xfrm>
          <a:prstGeom prst="roundRect">
            <a:avLst>
              <a:gd name="adj" fmla="val 5161"/>
            </a:avLst>
          </a:prstGeom>
          <a:solidFill>
            <a:srgbClr val="E9F4F3"/>
          </a:solidFill>
          <a:ln w="12700">
            <a:solidFill>
              <a:srgbClr val="BFD8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70916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means: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questioned costs were small ineligible-or-unsupported items, mostly on funds the Government of Nepal managed directly. Financial control was reasonable — and the accountability trail is preserved here even as USAID's own document server goes dark.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37376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Development Funding to Nepal  ·  built from primary sources, retrieved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कसरी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is built into the method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15315A"/>
          </a:solidFill>
          <a:ln w="12700">
            <a:solidFill>
              <a:srgbClr val="2448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134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FE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2295144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sources only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65176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and multilateral systems directly — no aggregators, no guesses.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214884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15315A"/>
          </a:solidFill>
          <a:ln w="12700">
            <a:solidFill>
              <a:srgbClr val="2448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5080" y="23134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FE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949440" y="2295144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with a fingerprint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49440" y="265176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pinned to a dated snapshot and a SHA-256 checksum.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15315A"/>
          </a:solidFill>
          <a:ln w="12700">
            <a:solidFill>
              <a:srgbClr val="244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9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FE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3621024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not merged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ledgers are squared against each other; every mismatch is logged with its cause.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72200" y="347472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15315A"/>
          </a:solidFill>
          <a:ln w="12700">
            <a:solidFill>
              <a:srgbClr val="2448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3639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FE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949440" y="3621024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fabricated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949440" y="397764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cannot be verified is left blank and labelled missing.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80060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15315A"/>
          </a:solidFill>
          <a:ln w="12700">
            <a:solidFill>
              <a:srgbClr val="2448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9651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FE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17320" y="4946904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limits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530352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Redactions, classifications and uncertainty are flagged on every chart.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72200" y="4800600"/>
            <a:ext cx="5257800" cy="1143000"/>
          </a:xfrm>
          <a:prstGeom prst="roundRect">
            <a:avLst>
              <a:gd name="adj" fmla="val 4800"/>
            </a:avLst>
          </a:prstGeom>
          <a:solidFill>
            <a:srgbClr val="15315A"/>
          </a:solidFill>
          <a:ln w="12700">
            <a:solidFill>
              <a:srgbClr val="2448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49651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FE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949440" y="4946904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49440" y="5303520"/>
            <a:ext cx="4343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re-run the pipeline and get the same numbers.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6355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sources · all reconciling to the dollar where they overlap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1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NEPAL  </a:t>
            </a:r>
            <a:pPr indent="0" marL="0">
              <a:buNone/>
            </a:pPr>
            <a:r>
              <a:rPr lang="en-US" sz="1200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नेपालका लागि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75488" y="7772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puts in Nepal's hands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66928" cy="5669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574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2020824"/>
            <a:ext cx="9829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planning instrument for the gap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17320" y="242316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sectors lost their pipeline in 2025 — health and governance most — so the budget can respond with evidence, not guesswork.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29000"/>
            <a:ext cx="566928" cy="566928"/>
          </a:xfrm>
          <a:prstGeom prst="ellipse">
            <a:avLst/>
          </a:prstGeom>
          <a:solidFill>
            <a:srgbClr val="0D244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429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3392424"/>
            <a:ext cx="9829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sovereignty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17320" y="379476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Nepal stops depending on foreign portals it cannot control. The record is archived here and updates from Nepal's own AMIS / DCR system.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800600"/>
            <a:ext cx="566928" cy="5669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8006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4764024"/>
            <a:ext cx="9829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transparency portal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516636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interactive, bilingual companion to the Development Cooperation Report the Ministry of Finance already publishes — for citizens, parliament and partners.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6437376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Development Funding to Nepal  ·  built from primary sources, retrieved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0152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record is Nepal's.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49808" y="35661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official sources, kept verifiable, told in two languages —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 “where did the money go?” always has an answer.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1206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next:  </a:t>
            </a:r>
            <a:pPr indent="0" marL="0">
              <a:buNone/>
            </a:pPr>
            <a:r>
              <a:rPr lang="en-US" sz="1400" dirty="0">
                <a:solidFill>
                  <a:srgbClr val="9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it to AMIS  ·  publish it through IECCD  ·  let Nepal contest the classifications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E7C8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धन्यवाद  ·  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Nepal Development Funding dataset</dc:creator>
  <cp:lastModifiedBy>Nepal Development Funding dataset</cp:lastModifiedBy>
  <cp:revision>1</cp:revision>
  <dcterms:created xsi:type="dcterms:W3CDTF">2026-06-21T14:36:01Z</dcterms:created>
  <dcterms:modified xsi:type="dcterms:W3CDTF">2026-06-21T14:36:01Z</dcterms:modified>
</cp:coreProperties>
</file>